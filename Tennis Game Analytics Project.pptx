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84c42872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84c42872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84c42872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84c42872b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1" Type="http://schemas.openxmlformats.org/officeDocument/2006/relationships/image" Target="../media/image8.png"/><Relationship Id="rId10" Type="http://schemas.openxmlformats.org/officeDocument/2006/relationships/image" Target="../media/image17.png"/><Relationship Id="rId9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Relationship Id="rId8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9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Relationship Id="rId7" Type="http://schemas.openxmlformats.org/officeDocument/2006/relationships/image" Target="../media/image36.png"/><Relationship Id="rId8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5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050" y="939775"/>
            <a:ext cx="11121451" cy="50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62125" y="1952642"/>
            <a:ext cx="7029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E635"/>
                </a:solidFill>
                <a:latin typeface="Inter Medium"/>
                <a:ea typeface="Inter Medium"/>
                <a:cs typeface="Inter Medium"/>
                <a:sym typeface="Inter Medium"/>
              </a:rPr>
              <a:t>INTERNSHIP CAPSTONE </a:t>
            </a:r>
            <a:r>
              <a:rPr lang="en-US" sz="1650">
                <a:solidFill>
                  <a:srgbClr val="A3E635"/>
                </a:solidFill>
                <a:latin typeface="Inter Medium"/>
                <a:ea typeface="Inter Medium"/>
                <a:cs typeface="Inter Medium"/>
                <a:sym typeface="Inter Medium"/>
              </a:rPr>
              <a:t>FINAL  </a:t>
            </a:r>
            <a:r>
              <a:rPr b="0" i="0" lang="en-US" sz="1650" u="none" cap="none" strike="noStrike">
                <a:solidFill>
                  <a:srgbClr val="A3E635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62050" y="2575925"/>
            <a:ext cx="96402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Tennis Game Analytics Dashboard</a:t>
            </a:r>
            <a:endParaRPr sz="4300"/>
          </a:p>
        </p:txBody>
      </p:sp>
      <p:sp>
        <p:nvSpPr>
          <p:cNvPr id="88" name="Google Shape;88;p13"/>
          <p:cNvSpPr txBox="1"/>
          <p:nvPr/>
        </p:nvSpPr>
        <p:spPr>
          <a:xfrm>
            <a:off x="1162125" y="4335000"/>
            <a:ext cx="824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UNLOCKING GLOBAL TOURNAMENT INSIGHTS WITH SPORTRADAR API &amp; STREAMLIT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3650" y="1788325"/>
            <a:ext cx="4695899" cy="26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758923"/>
            <a:ext cx="52863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the fast-evolving world of professional sports, data has become the ultimate competitive advantage.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475" y="3265628"/>
            <a:ext cx="5286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project focuses on the Tennis ecosystem, bridging the gap between raw Sportradar API feeds and meaningful business intelligence. We developed a comprehensive solution for managing, visualizing, and analyzing competition data.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512000" y="2018012"/>
            <a:ext cx="493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Domain Focus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414750" y="2779641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Sports Analytics specifically targeting competition structures, player participation, and real-time performance tracking.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762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594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762594"/>
            <a:ext cx="3524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1762594"/>
            <a:ext cx="3524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66775" y="2643187"/>
            <a:ext cx="308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Data Extraction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154183"/>
            <a:ext cx="293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Establishing automated connections to Sportradar's Tennis V3 API to pull live ranking and event data.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29150" y="2643187"/>
            <a:ext cx="308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Normalization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29150" y="3154183"/>
            <a:ext cx="293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Designing a robust 3NF SQL schema to store nested information about venues, competitors, and hierarchies.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391525" y="2643187"/>
            <a:ext cx="308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Interactive UI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391525" y="3154183"/>
            <a:ext cx="293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Developing a Streamlit-based dashboard for instant filtering, search, and trend visualization.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0240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9150" y="20240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1525" y="2024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4762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1000125" y="1571625"/>
            <a:ext cx="1062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Extraction: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Python scripts utilizing requests to fetch tournament feeds (JSON).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00125" y="1981200"/>
            <a:ext cx="1062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Transformation: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Flattening complex nested structures using Pandas for relational compatibility.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00125" y="2381250"/>
            <a:ext cx="1062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Load (MySQL):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Schema-driven batch insertion with referential integrity.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00125" y="2781300"/>
            <a:ext cx="1062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Analysis: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Executing optimized SQL queries to derive insights like parent-child competition hierarchies.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00125" y="3181350"/>
            <a:ext cx="1062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Dashboard: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Integrating the SQL database with a Streamlit front-end for user interaction.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3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3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3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432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4762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83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32" y="3305175"/>
            <a:ext cx="209550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6111" y="3305175"/>
            <a:ext cx="209550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0090" y="3305175"/>
            <a:ext cx="209550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24069" y="3305175"/>
            <a:ext cx="209550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38907" y="3514725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039772" y="3895725"/>
            <a:ext cx="17602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Sportradar API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81682" y="4086225"/>
            <a:ext cx="1676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 Data (JSON)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88047" y="3729037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0036" y="351472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3823751" y="3895725"/>
            <a:ext cx="17602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Python Processing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3865661" y="4086225"/>
            <a:ext cx="1676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ETL &amp; Transformation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2026" y="3729037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64015" y="351472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607730" y="3895725"/>
            <a:ext cx="17602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MySQL Server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49640" y="4086225"/>
            <a:ext cx="1676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Relational Storage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56005" y="3729037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28944" y="35147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9391709" y="3895725"/>
            <a:ext cx="17602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Streamlit Dashboard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433619" y="4086225"/>
            <a:ext cx="1676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Visualization UI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6200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WORKFLOW </a:t>
            </a:r>
            <a:r>
              <a:rPr b="1" lang="en-US" sz="3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ARCHITECTURE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0185"/>
            <a:ext cx="5286375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33600"/>
            <a:ext cx="52863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14400" y="2352675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Geographic Dominance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14400" y="2876550"/>
            <a:ext cx="464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USA and Europe hold over 60% of the top slots, indicating robust developmental structures in those specific regions.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677025" y="2352675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 Tier Stability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677025" y="2876550"/>
            <a:ext cx="464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Positions 1-3 show exceptionally high stability, with points gaps between players becoming narrowest in the Top 10 range.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4762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FINDINGS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6600"/>
            <a:ext cx="5286375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000133"/>
            <a:ext cx="52863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914400" y="4155196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Performance Concentration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936750" y="4686300"/>
            <a:ext cx="4648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"Top 10" players dominate nearly 45% of the total points pool, highlighting a massive performance gap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6677025" y="4155200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 Tier Stability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712782" y="4598575"/>
            <a:ext cx="4648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Men’s Singles account for 40% more data entries than Doubles, reflecting higher global market density.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410914" y="2171700"/>
            <a:ext cx="137017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PHASE II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565433" y="2695575"/>
            <a:ext cx="906113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Visuals &amp; Dashboards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381625" y="4029075"/>
            <a:ext cx="1428750" cy="76200"/>
          </a:xfrm>
          <a:prstGeom prst="roundRect">
            <a:avLst>
              <a:gd fmla="val 50000" name="adj"/>
            </a:avLst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4229100" y="4391025"/>
            <a:ext cx="37338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Interactive Rankings Explorer UI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7975"/>
            <a:ext cx="11049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362075"/>
            <a:ext cx="35559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362075"/>
            <a:ext cx="35559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362075"/>
            <a:ext cx="3556099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762000" y="4762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 METRIC SNAPSHOT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0" title="Filtered Competito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500" y="2904400"/>
            <a:ext cx="11049001" cy="375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2300"/>
            <a:ext cx="11049000" cy="49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762000" y="4762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POINTS DISTRIBUTION ANALYSIS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1" title="Top 10 Player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173275"/>
            <a:ext cx="11260975" cy="451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6200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POINT</a:t>
            </a: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DISTRIBUTION ANALYSIS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476250"/>
            <a:ext cx="76200" cy="6000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2" title="Leaderbo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67000"/>
            <a:ext cx="11401499" cy="47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76200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Dashboard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476250"/>
            <a:ext cx="76200" cy="6000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3" title="Dashboard 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49600"/>
            <a:ext cx="11169748" cy="550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757487"/>
            <a:ext cx="952500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1638300" y="3062287"/>
            <a:ext cx="89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project successfully transitioned from raw API data to an interactive business tool. By automating the ETL pipeline and providing a user-centric dashboard, we have created a scalable asset for sports analysts to explore tournament hierarchies and athlete performance.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1638300" y="4167187"/>
            <a:ext cx="891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E63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Outcomes: 100% data extraction accuracy and optimized SQL query performance for real-time visualization.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762000" y="4762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83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3833"/>
            <a:ext cx="5453062" cy="1226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7437" y="2573833"/>
            <a:ext cx="5453062" cy="1226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43350"/>
            <a:ext cx="5453062" cy="1226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7437" y="3943350"/>
            <a:ext cx="5453062" cy="12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2519675" y="2782200"/>
            <a:ext cx="323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E63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Batch 15th Oct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8266625" y="2754800"/>
            <a:ext cx="316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E63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Batch 1st Oct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2709855" y="4124325"/>
            <a:ext cx="312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E63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Batch 15th Oct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8454450" y="4124325"/>
            <a:ext cx="297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E63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Batch 15th Oct</a:t>
            </a:r>
            <a:endParaRPr/>
          </a:p>
        </p:txBody>
      </p:sp>
      <p:pic>
        <p:nvPicPr>
          <p:cNvPr descr="image.png" id="251" name="Google Shape;25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811958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067225" y="2770671"/>
            <a:ext cx="105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Rupali Jain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838200" y="3124378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904875" y="3126283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Establish API Connection &amp; Key Management.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838200" y="3301484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904875" y="3303389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Fetched Competitions, Complexes &amp; Rankings.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838200" y="3478589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904875" y="3480494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Managed the Raw JSON Data Collection phase.</a:t>
            </a:r>
            <a:endParaRPr/>
          </a:p>
        </p:txBody>
      </p:sp>
      <p:pic>
        <p:nvPicPr>
          <p:cNvPr descr="image.png" id="259" name="Google Shape;25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7937" y="2811958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6577012" y="2754808"/>
            <a:ext cx="157019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Shreya Thaware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6434137" y="3124378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6500812" y="3126283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Cleaning &amp; Transformation in Python &amp; SQL.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6434137" y="3301484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6500812" y="3303389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Converted JSON to Pandas Structured Format.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6434137" y="3478589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6500812" y="3480494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 Schema creation &amp; clean data ingestion.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1814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962025" y="4124325"/>
            <a:ext cx="17002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Muskan Bhardwaj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838200" y="4493895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904875" y="4495800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Advanced SQL Querying &amp; Trend Discovery.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838200" y="46710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904875" y="4672905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Analysis of Categories &amp; Venue distribution.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838200" y="4848105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904875" y="4850010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Preparation of Insights for dashboard metrics.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57937" y="4181475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6596062" y="4124325"/>
            <a:ext cx="1600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Guransh Dhiman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434137" y="4493895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6500812" y="4495800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Streamlit Dashboard Development &amp; UI Build.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6434137" y="467100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6500812" y="4672905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Dynamic Filter &amp; Search functionality logic.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6434137" y="4848105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6500812" y="4850010"/>
            <a:ext cx="4929187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Final Web Application deployment &amp; testing.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762000" y="4762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TEAM &amp; CONTRIBUTIONS</a:t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4820" y="1572309"/>
            <a:ext cx="4314900" cy="287894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571492" y="1522668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Support &amp; Mentorship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571500" y="1914250"/>
            <a:ext cx="528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extend our deepest gratitude to our mentors and supervisors for their technical guidance throughout this journey.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571500" y="2813975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Collaborative Effort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571475" y="3268025"/>
            <a:ext cx="528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project was a collective effort of the DA/BA batches, demonstrating teamwork and dedication to analytical excellence.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6712029" y="2621762"/>
            <a:ext cx="453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Labmentix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6819900" y="3140212"/>
            <a:ext cx="4314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3E635"/>
                </a:solidFill>
                <a:latin typeface="Inter"/>
                <a:ea typeface="Inter"/>
                <a:cs typeface="Inter"/>
                <a:sym typeface="Inter"/>
              </a:rPr>
              <a:t>Opportunity &amp; Support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6819938" y="3749287"/>
            <a:ext cx="43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 providing the platform and resources to make this internship project a success.</a:t>
            </a:r>
            <a:endParaRPr/>
          </a:p>
        </p:txBody>
      </p:sp>
      <p:pic>
        <p:nvPicPr>
          <p:cNvPr descr="image.png" id="298" name="Google Shape;29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0" y="1791725"/>
            <a:ext cx="4286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790575" y="52992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ACKNOWLEDGMENTS</a:t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571500" y="476250"/>
            <a:ext cx="76200" cy="60007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683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/>
        </p:nvSpPr>
        <p:spPr>
          <a:xfrm>
            <a:off x="2880598" y="2909887"/>
            <a:ext cx="643080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3843325" y="4052854"/>
            <a:ext cx="45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time and </a:t>
            </a: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patience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